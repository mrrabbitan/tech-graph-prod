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五层技术架构（自上而下）：</a:t>
            </a:r>
          </a:p>
          <a:p>
            <a:r>
              <a:t>1. 前端展示层 — Vue 3 + Element Plus + ECharts + WebSocket</a:t>
            </a:r>
          </a:p>
          <a:p>
            <a:r>
              <a:t>2. API 网关/安全层 — Spring Cloud Gateway + Spring Security + Sentinel</a:t>
            </a:r>
          </a:p>
          <a:p>
            <a:r>
              <a:t>3. 决策中枢层（核心智能体）— Spring Boot 3 + Flowable + Spring AI + Spring StateMachine</a:t>
            </a:r>
          </a:p>
          <a:p>
            <a:r>
              <a:t>4. MCP 协议适配与能力接入层 — Spring AI MCP + Nacos + OpenFeign（上游 Qwen2.5-32B / 下游 BDI Agent）</a:t>
            </a:r>
          </a:p>
          <a:p>
            <a:r>
              <a:t>5. 基础设施与运维保障层 — MySQL + Redis + Kafka + Elasticsearch + SkyWalking + Prometheus</a:t>
            </a:r>
          </a:p>
          <a:p/>
          <a:p>
            <a:r>
              <a:t>横向能力：幂等、分布式锁、异步事件驱动、全链路追踪、分级异常处理、配置化参数映射、插件化扩展。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17565"/>
            <a:ext cx="12191695" cy="2090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PingFang SC"/>
              </a:rPr>
              <a:t>智能采集决策中枢系统 — 五层技术架构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6571"/>
            <a:ext cx="12191695" cy="1436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>
                <a:solidFill>
                  <a:srgbClr val="64748B"/>
                </a:solidFill>
                <a:latin typeface="PingFang SC"/>
              </a:rPr>
              <a:t>五层松耦合架构  ·  MCP 协议标准化交互  ·  端到端自动化执行  ·  全链路可观测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993" y="561702"/>
            <a:ext cx="11683707" cy="10972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587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8658" y="653142"/>
            <a:ext cx="524920" cy="914400"/>
          </a:xfrm>
          <a:prstGeom prst="roundRect">
            <a:avLst>
              <a:gd name="adj" fmla="val 1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8242" y="640080"/>
            <a:ext cx="2184345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1D4ED8"/>
                </a:solidFill>
                <a:latin typeface="PingFang SC"/>
              </a:rPr>
              <a:t>前端展示层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8242" y="822960"/>
            <a:ext cx="2184345" cy="1175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i="1">
                <a:solidFill>
                  <a:srgbClr val="64748B"/>
                </a:solidFill>
                <a:latin typeface="Helvetica"/>
              </a:rPr>
              <a:t>Presentation Layer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8242" y="966651"/>
            <a:ext cx="2184345" cy="5878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rIns="0" tIns="0" bIns="0" wrap="square"/>
          <a:lstStyle/>
          <a:p>
            <a:pPr algn="l"/>
            <a:r>
              <a:rPr sz="1000" b="1">
                <a:solidFill>
                  <a:srgbClr val="64748B"/>
                </a:solidFill>
                <a:latin typeface="PingFang SC"/>
              </a:rPr>
              <a:t>技术亮点</a:t>
            </a:r>
          </a:p>
          <a:p>
            <a:pPr algn="l"/>
            <a:r>
              <a:rPr sz="1100">
                <a:solidFill>
                  <a:srgbClr val="1E293B"/>
                </a:solidFill>
                <a:latin typeface="PingFang SC"/>
              </a:rPr>
              <a:t>可视化流程编排  ·  实时进度滚动  ·  全链路日志检索  ·  任务监控看板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01917" y="69233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1D4ED8"/>
                </a:solidFill>
                <a:latin typeface="PingFang SC"/>
              </a:rPr>
              <a:t>任务中心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任务创建 · 编辑 · 启停 · 重试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2780" y="69233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1D4ED8"/>
                </a:solidFill>
                <a:latin typeface="PingFang SC"/>
              </a:rPr>
              <a:t>需求录入工作台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文档上传 · 接口规范录入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03643" y="69233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1D4ED8"/>
                </a:solidFill>
                <a:latin typeface="PingFang SC"/>
              </a:rPr>
              <a:t>流程进度大盘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6 步骤可视化 · 实时滚动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54505" y="69233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1D4ED8"/>
                </a:solidFill>
                <a:latin typeface="PingFang SC"/>
              </a:rPr>
              <a:t>日志检索面板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全链路日志 · 在线查看 · 下载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05368" y="69233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1D4ED8"/>
                </a:solidFill>
                <a:latin typeface="PingFang SC"/>
              </a:rPr>
              <a:t>监控告警中心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指标看板 · 弹窗告警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1917" y="1410788"/>
            <a:ext cx="507987" cy="1306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PingFang SC"/>
              </a:rPr>
              <a:t>技术栈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76038" y="1423851"/>
            <a:ext cx="491054" cy="143691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Vue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824" y="1423851"/>
            <a:ext cx="761980" cy="143691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TypeScript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64537" y="1423851"/>
            <a:ext cx="872044" cy="143691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Element Plus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04313" y="1423851"/>
            <a:ext cx="596885" cy="143691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ECharts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8930" y="1423851"/>
            <a:ext cx="706948" cy="143691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WebSocket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611" y="1423851"/>
            <a:ext cx="491054" cy="143691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Pinia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3993" y="1750422"/>
            <a:ext cx="11683707" cy="10972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15875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8658" y="1841862"/>
            <a:ext cx="524920" cy="914400"/>
          </a:xfrm>
          <a:prstGeom prst="roundRect">
            <a:avLst>
              <a:gd name="adj" fmla="val 1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8242" y="1828800"/>
            <a:ext cx="2184345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4338CA"/>
                </a:solidFill>
                <a:latin typeface="PingFang SC"/>
              </a:rPr>
              <a:t>API 网关 / 安全层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42" y="2011680"/>
            <a:ext cx="2184345" cy="1175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i="1">
                <a:solidFill>
                  <a:srgbClr val="64748B"/>
                </a:solidFill>
                <a:latin typeface="Helvetica"/>
              </a:rPr>
              <a:t>API Gateway &amp; Security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8242" y="2155371"/>
            <a:ext cx="2184345" cy="5878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rIns="0" tIns="0" bIns="0" wrap="square"/>
          <a:lstStyle/>
          <a:p>
            <a:pPr algn="l"/>
            <a:r>
              <a:rPr sz="1000" b="1">
                <a:solidFill>
                  <a:srgbClr val="64748B"/>
                </a:solidFill>
                <a:latin typeface="PingFang SC"/>
              </a:rPr>
              <a:t>技术亮点</a:t>
            </a:r>
          </a:p>
          <a:p>
            <a:pPr algn="l"/>
            <a:r>
              <a:rPr sz="1100">
                <a:solidFill>
                  <a:srgbClr val="1E293B"/>
                </a:solidFill>
                <a:latin typeface="PingFang SC"/>
              </a:rPr>
              <a:t>RESTful 路由  ·  MD5 签名鉴权  ·  JWT/OAuth2  ·  限流熔断  ·  敏感参数加密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01917" y="188105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4338CA"/>
                </a:solidFill>
                <a:latin typeface="PingFang SC"/>
              </a:rPr>
              <a:t>REST API 网关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统一入口 · 路由聚合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52780" y="188105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4338CA"/>
                </a:solidFill>
                <a:latin typeface="PingFang SC"/>
              </a:rPr>
              <a:t>统一鉴权中心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MD5 签名 · 时间窗口校验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03643" y="188105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4338CA"/>
                </a:solidFill>
                <a:latin typeface="PingFang SC"/>
              </a:rPr>
              <a:t>流量熔断降级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限流 · 降级 · 黑白名单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54505" y="188105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4338CA"/>
                </a:solidFill>
                <a:latin typeface="PingFang SC"/>
              </a:rPr>
              <a:t>会话 &amp; 令牌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Session · AccessToken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05368" y="188105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4338CA"/>
                </a:solidFill>
                <a:latin typeface="PingFang SC"/>
              </a:rPr>
              <a:t>安全传输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HTTPS · AES 加密 · 审计留痕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01917" y="2599508"/>
            <a:ext cx="507987" cy="1306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PingFang SC"/>
              </a:rPr>
              <a:t>技术栈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76038" y="2612571"/>
            <a:ext cx="1325000" cy="143691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Spring Cloud Gateway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68770" y="2612571"/>
            <a:ext cx="1037140" cy="143691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Spring Security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73643" y="2612571"/>
            <a:ext cx="910143" cy="143691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JWT / OAuth2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51518" y="2612571"/>
            <a:ext cx="639217" cy="143691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Sentinel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58467" y="2612571"/>
            <a:ext cx="491054" cy="143691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Nginx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3993" y="2939142"/>
            <a:ext cx="11683707" cy="109728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15875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38658" y="3030582"/>
            <a:ext cx="524920" cy="914400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8242" y="3017520"/>
            <a:ext cx="2184345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C2410C"/>
                </a:solidFill>
                <a:latin typeface="PingFang SC"/>
              </a:rPr>
              <a:t>决策中枢层（核心智能体）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8242" y="3200400"/>
            <a:ext cx="2184345" cy="1175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i="1">
                <a:solidFill>
                  <a:srgbClr val="64748B"/>
                </a:solidFill>
                <a:latin typeface="Helvetica"/>
              </a:rPr>
              <a:t>Decision Hub — Core Orchestration Agent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8242" y="3344091"/>
            <a:ext cx="2184345" cy="5878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rIns="0" tIns="0" bIns="0" wrap="square"/>
          <a:lstStyle/>
          <a:p>
            <a:pPr algn="l"/>
            <a:r>
              <a:rPr sz="1000" b="1">
                <a:solidFill>
                  <a:srgbClr val="64748B"/>
                </a:solidFill>
                <a:latin typeface="PingFang SC"/>
              </a:rPr>
              <a:t>技术亮点</a:t>
            </a:r>
          </a:p>
          <a:p>
            <a:pPr algn="l"/>
            <a:r>
              <a:rPr sz="1100">
                <a:solidFill>
                  <a:srgbClr val="1E293B"/>
                </a:solidFill>
                <a:latin typeface="PingFang SC"/>
              </a:rPr>
              <a:t>状态机驱动  ·  智能流程编排  ·  任务全生命周期  ·  智能决策与异常分级处理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01917" y="306977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C2410C"/>
                </a:solidFill>
                <a:latin typeface="PingFang SC"/>
              </a:rPr>
              <a:t>任务生命周期管理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新建·编辑·启停·版本·RBAC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52780" y="306977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C2410C"/>
                </a:solidFill>
                <a:latin typeface="PingFang SC"/>
              </a:rPr>
              <a:t>智能流程编排引擎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状态机 · 依赖跳转 · 多场景模板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03643" y="306977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C2410C"/>
                </a:solidFill>
                <a:latin typeface="PingFang SC"/>
              </a:rPr>
              <a:t>参数解析与转换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结构化提取 · 校验 · 人机补全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54505" y="306977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C2410C"/>
                </a:solidFill>
                <a:latin typeface="PingFang SC"/>
              </a:rPr>
              <a:t>执行调度 &amp; 状态管控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幂等 · 断点续跑 · 进度追踪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305368" y="306977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C2410C"/>
                </a:solidFill>
                <a:latin typeface="PingFang SC"/>
              </a:rPr>
              <a:t>异常处理决策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分级识别 · 重试 · 熔断 · 根因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01917" y="3788228"/>
            <a:ext cx="507987" cy="1306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PingFang SC"/>
              </a:rPr>
              <a:t>技术栈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776038" y="3801291"/>
            <a:ext cx="927076" cy="143691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Spring Boot 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70847" y="3801291"/>
            <a:ext cx="639217" cy="143691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Flowable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77796" y="3801291"/>
            <a:ext cx="719648" cy="143691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Spring 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5176" y="3801291"/>
            <a:ext cx="1269968" cy="143691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Spring StateMachine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02876" y="3801291"/>
            <a:ext cx="529153" cy="143691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Hutool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99761" y="3801291"/>
            <a:ext cx="706948" cy="143691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MapStruct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53993" y="4127862"/>
            <a:ext cx="11683707" cy="1097280"/>
          </a:xfrm>
          <a:prstGeom prst="roundRect">
            <a:avLst>
              <a:gd name="adj" fmla="val 4000"/>
            </a:avLst>
          </a:prstGeom>
          <a:solidFill>
            <a:srgbClr val="ECFDF5"/>
          </a:solidFill>
          <a:ln w="15875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38658" y="4219302"/>
            <a:ext cx="524920" cy="914400"/>
          </a:xfrm>
          <a:prstGeom prst="roundRect">
            <a:avLst>
              <a:gd name="adj" fmla="val 1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8242" y="4206240"/>
            <a:ext cx="2184345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PingFang SC"/>
              </a:rPr>
              <a:t>MCP 协议适配与能力接入层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8242" y="4389120"/>
            <a:ext cx="2184345" cy="1175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i="1">
                <a:solidFill>
                  <a:srgbClr val="64748B"/>
                </a:solidFill>
                <a:latin typeface="Helvetica"/>
              </a:rPr>
              <a:t>MCP Protocol Adaptation &amp; Capability Bus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48242" y="4532811"/>
            <a:ext cx="2184345" cy="5878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rIns="0" tIns="0" bIns="0" wrap="square"/>
          <a:lstStyle/>
          <a:p>
            <a:pPr algn="l"/>
            <a:r>
              <a:rPr sz="1000" b="1">
                <a:solidFill>
                  <a:srgbClr val="64748B"/>
                </a:solidFill>
                <a:latin typeface="PingFang SC"/>
              </a:rPr>
              <a:t>技术亮点</a:t>
            </a:r>
          </a:p>
          <a:p>
            <a:pPr algn="l"/>
            <a:r>
              <a:rPr sz="1100">
                <a:solidFill>
                  <a:srgbClr val="1E293B"/>
                </a:solidFill>
                <a:latin typeface="PingFang SC"/>
              </a:rPr>
              <a:t>MCP 双向协议转换  ·  服务注册发现  ·  原子工具 + 组合流程  ·  健康检查动态上下线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301917" y="425849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047857"/>
                </a:solidFill>
                <a:latin typeface="PingFang SC"/>
              </a:rPr>
              <a:t>MCP Server / Client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标准 MCP 运行时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052780" y="425849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047857"/>
                </a:solidFill>
                <a:latin typeface="PingFang SC"/>
              </a:rPr>
              <a:t>协议双向转换器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HTTP ⇄ MCP · 流式适配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03643" y="425849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047857"/>
                </a:solidFill>
                <a:latin typeface="PingFang SC"/>
              </a:rPr>
              <a:t>上游 AI 解析适配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能开平台 · Qwen2.5-32B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554505" y="425849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047857"/>
                </a:solidFill>
                <a:latin typeface="PingFang SC"/>
              </a:rPr>
              <a:t>下游 BDI 执行适配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资源注册→建模→映射→流程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305368" y="425849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047857"/>
                </a:solidFill>
                <a:latin typeface="PingFang SC"/>
              </a:rPr>
              <a:t>能力注册发现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工具元数据 · 健康检查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01917" y="4976948"/>
            <a:ext cx="507987" cy="1306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PingFang SC"/>
              </a:rPr>
              <a:t>技术栈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776038" y="4990011"/>
            <a:ext cx="977875" cy="143691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Spring AI MCP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21646" y="4990011"/>
            <a:ext cx="491054" cy="143691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Nacos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380432" y="4990011"/>
            <a:ext cx="706948" cy="143691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OpenFeign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155112" y="4990011"/>
            <a:ext cx="817012" cy="143691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Qwen2.5-32B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039857" y="4990011"/>
            <a:ext cx="732348" cy="143691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BDI Agent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839937" y="4990011"/>
            <a:ext cx="855111" cy="143691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WebFlux SSE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3993" y="5316582"/>
            <a:ext cx="11683707" cy="10972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38658" y="5408022"/>
            <a:ext cx="524920" cy="914400"/>
          </a:xfrm>
          <a:prstGeom prst="roundRect">
            <a:avLst>
              <a:gd name="adj" fmla="val 1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8242" y="5394960"/>
            <a:ext cx="2184345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334155"/>
                </a:solidFill>
                <a:latin typeface="PingFang SC"/>
              </a:rPr>
              <a:t>基础设施与运维保障层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8242" y="5577840"/>
            <a:ext cx="2184345" cy="1175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i="1">
                <a:solidFill>
                  <a:srgbClr val="64748B"/>
                </a:solidFill>
                <a:latin typeface="Helvetica"/>
              </a:rPr>
              <a:t>Infrastructure &amp; Observability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48242" y="5721531"/>
            <a:ext cx="2184345" cy="5878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rIns="0" tIns="0" bIns="0" wrap="square"/>
          <a:lstStyle/>
          <a:p>
            <a:pPr algn="l"/>
            <a:r>
              <a:rPr sz="1000" b="1">
                <a:solidFill>
                  <a:srgbClr val="64748B"/>
                </a:solidFill>
                <a:latin typeface="PingFang SC"/>
              </a:rPr>
              <a:t>技术亮点</a:t>
            </a:r>
          </a:p>
          <a:p>
            <a:pPr algn="l"/>
            <a:r>
              <a:rPr sz="1100">
                <a:solidFill>
                  <a:srgbClr val="1E293B"/>
                </a:solidFill>
                <a:latin typeface="PingFang SC"/>
              </a:rPr>
              <a:t>分布式锁  ·  异步事件驱动  ·  全链路追踪  ·  敏感加密存储  ·  幂等 &amp; 高可用保障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301917" y="544721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334155"/>
                </a:solidFill>
                <a:latin typeface="PingFang SC"/>
              </a:rPr>
              <a:t>关系存储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任务元数据 · 执行记录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52780" y="544721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334155"/>
                </a:solidFill>
                <a:latin typeface="PingFang SC"/>
              </a:rPr>
              <a:t>缓存 &amp; 分布式锁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Redis 锁 · 幂等 Key · 限流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803643" y="544721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334155"/>
                </a:solidFill>
                <a:latin typeface="PingFang SC"/>
              </a:rPr>
              <a:t>消息 &amp; 事件总线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长时任务异步回调 · 事件推送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54505" y="544721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334155"/>
                </a:solidFill>
                <a:latin typeface="PingFang SC"/>
              </a:rPr>
              <a:t>日志与检索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全链路日志采集 · 聚合检索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305368" y="5447211"/>
            <a:ext cx="1632332" cy="404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778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200" b="1">
                <a:solidFill>
                  <a:srgbClr val="334155"/>
                </a:solidFill>
                <a:latin typeface="PingFang SC"/>
              </a:rPr>
              <a:t>监控 &amp; APM</a:t>
            </a:r>
          </a:p>
          <a:p>
            <a:pPr algn="ctr"/>
            <a:r>
              <a:rPr sz="950">
                <a:solidFill>
                  <a:srgbClr val="475569"/>
                </a:solidFill>
                <a:latin typeface="PingFang SC"/>
              </a:rPr>
              <a:t>链路追踪 · 指标 · 告警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01917" y="6165668"/>
            <a:ext cx="507987" cy="1306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PingFang SC"/>
              </a:rPr>
              <a:t>技术栈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76038" y="6178731"/>
            <a:ext cx="622284" cy="143691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MySQL 8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466054" y="6178731"/>
            <a:ext cx="584185" cy="143691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Redis 7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117971" y="6178731"/>
            <a:ext cx="584185" cy="143691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Kafka 3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769888" y="6178731"/>
            <a:ext cx="872044" cy="143691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Spring Event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709665" y="6178731"/>
            <a:ext cx="1024441" cy="143691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Elasticsearch 8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01838" y="6178731"/>
            <a:ext cx="761980" cy="143691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SkyWalking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631550" y="6178731"/>
            <a:ext cx="749281" cy="143691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Prometheus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095847" y="1658982"/>
            <a:ext cx="0" cy="91440"/>
          </a:xfrm>
          <a:prstGeom prst="line">
            <a:avLst/>
          </a:prstGeom>
          <a:ln w="25400">
            <a:solidFill>
              <a:srgbClr val="47556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5376198" y="1645920"/>
            <a:ext cx="1439297" cy="1175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00">
                <a:solidFill>
                  <a:srgbClr val="334155"/>
                </a:solidFill>
                <a:latin typeface="PingFang SC"/>
              </a:rPr>
              <a:t>REST API · HTTPS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095847" y="2847702"/>
            <a:ext cx="0" cy="91440"/>
          </a:xfrm>
          <a:prstGeom prst="line">
            <a:avLst/>
          </a:prstGeom>
          <a:ln w="25400">
            <a:solidFill>
              <a:srgbClr val="47556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5376198" y="2834640"/>
            <a:ext cx="1439297" cy="1175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00">
                <a:solidFill>
                  <a:srgbClr val="334155"/>
                </a:solidFill>
                <a:latin typeface="PingFang SC"/>
              </a:rPr>
              <a:t>统一接入 · 鉴权透传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6095847" y="4036422"/>
            <a:ext cx="0" cy="91440"/>
          </a:xfrm>
          <a:prstGeom prst="line">
            <a:avLst/>
          </a:prstGeom>
          <a:ln w="25400">
            <a:solidFill>
              <a:srgbClr val="47556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 94"/>
          <p:cNvSpPr/>
          <p:nvPr/>
        </p:nvSpPr>
        <p:spPr>
          <a:xfrm>
            <a:off x="5376198" y="4023360"/>
            <a:ext cx="1439297" cy="1175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00">
                <a:solidFill>
                  <a:srgbClr val="334155"/>
                </a:solidFill>
                <a:latin typeface="PingFang SC"/>
              </a:rPr>
              <a:t>MCP 协议 · 双向调用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095847" y="5225142"/>
            <a:ext cx="0" cy="91440"/>
          </a:xfrm>
          <a:prstGeom prst="line">
            <a:avLst/>
          </a:prstGeom>
          <a:ln w="25400">
            <a:solidFill>
              <a:srgbClr val="475569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96"/>
          <p:cNvSpPr/>
          <p:nvPr/>
        </p:nvSpPr>
        <p:spPr>
          <a:xfrm>
            <a:off x="5376198" y="5212080"/>
            <a:ext cx="1439297" cy="1175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00">
                <a:solidFill>
                  <a:srgbClr val="334155"/>
                </a:solidFill>
                <a:latin typeface="PingFang SC"/>
              </a:rPr>
              <a:t>持久化 · 事件 / 日志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53993" y="6570617"/>
            <a:ext cx="11683707" cy="195942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334155"/>
                </a:solidFill>
                <a:latin typeface="PingFang SC"/>
              </a:rPr>
              <a:t>横向能力（贯穿全层）</a:t>
            </a:r>
            <a:r>
              <a:rPr sz="1100">
                <a:solidFill>
                  <a:srgbClr val="475569"/>
                </a:solidFill>
                <a:latin typeface="PingFang SC"/>
              </a:rPr>
              <a:t>  　幂等保障　·　分布式锁（Redis）　·　异步事件驱动（Spring Event）　·　全链路追踪（SkyWalking）　·　分级异常处理　·　配置化参数映射　·　插件化扩展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