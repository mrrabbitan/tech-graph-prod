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五层技术架构（自上而下）：</a:t>
            </a:r>
          </a:p>
          <a:p>
            <a:r>
              <a:t>1. 前端展示层 — Vue 3 + Element Plus + ECharts + WebSocket</a:t>
            </a:r>
          </a:p>
          <a:p>
            <a:r>
              <a:t>2. API 网关/安全层 — Spring Cloud Gateway + Spring Security + Sentinel</a:t>
            </a:r>
          </a:p>
          <a:p>
            <a:r>
              <a:t>3. 决策中枢层（核心智能体）— Spring Boot 3 + Flowable + Spring AI + Spring StateMachine</a:t>
            </a:r>
          </a:p>
          <a:p>
            <a:r>
              <a:t>4. MCP 协议适配与能力接入层 — Spring AI MCP + Nacos + OpenFeign（上游 Qwen2.5-32B / 下游 BDI Agent）</a:t>
            </a:r>
          </a:p>
          <a:p>
            <a:r>
              <a:t>5. 基础设施与运维保障层 — MySQL + Redis + Kafka + Elasticsearch + SkyWalking + Prometheus</a:t>
            </a:r>
          </a:p>
          <a:p/>
          <a:p>
            <a:r>
              <a:t>横向能力：幂等、分布式锁、异步事件驱动、全链路追踪、分级异常处理、配置化参数映射、插件化扩展。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17565"/>
            <a:ext cx="12191695" cy="2090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+mn-ea"/>
                <a:cs typeface="+mn-ea"/>
              </a:rPr>
              <a:t>智能采集决策中枢系统 — 五层技术架构</a:t>
            </a:r>
            <a:endParaRPr sz="2200" b="1">
              <a:solidFill>
                <a:srgbClr val="0F172A"/>
              </a:solidFill>
              <a:latin typeface="+mn-ea"/>
              <a:cs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83721"/>
            <a:ext cx="12191695" cy="1436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>
                <a:solidFill>
                  <a:srgbClr val="64748B"/>
                </a:solidFill>
                <a:latin typeface="+mn-ea"/>
                <a:cs typeface="+mn-ea"/>
              </a:rPr>
              <a:t>五层松耦合架构  ·  MCP 协议标准化交互  ·  端到端自动化执行  ·  全链路可观测</a:t>
            </a:r>
            <a:endParaRPr sz="1300">
              <a:solidFill>
                <a:srgbClr val="64748B"/>
              </a:solidFill>
              <a:latin typeface="+mn-ea"/>
              <a:cs typeface="+mn-ea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254000" y="1088390"/>
            <a:ext cx="11684000" cy="5678170"/>
            <a:chOff x="400" y="885"/>
            <a:chExt cx="18400" cy="9771"/>
          </a:xfrm>
        </p:grpSpPr>
        <p:sp>
          <p:nvSpPr>
            <p:cNvPr id="5" name="Rounded Rectangle 4"/>
            <p:cNvSpPr/>
            <p:nvPr/>
          </p:nvSpPr>
          <p:spPr>
            <a:xfrm>
              <a:off x="400" y="885"/>
              <a:ext cx="18400" cy="1728"/>
            </a:xfrm>
            <a:prstGeom prst="roundRect">
              <a:avLst>
                <a:gd name="adj" fmla="val 4000"/>
              </a:avLst>
            </a:prstGeom>
            <a:solidFill>
              <a:srgbClr val="EFF6FF"/>
            </a:solidFill>
            <a:ln w="15875">
              <a:solidFill>
                <a:srgbClr val="93C5F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+mn-ea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33" y="1029"/>
              <a:ext cx="827" cy="1440"/>
            </a:xfrm>
            <a:prstGeom prst="roundRect">
              <a:avLst>
                <a:gd name="adj" fmla="val 10000"/>
              </a:avLst>
            </a:prstGeom>
            <a:solidFill>
              <a:srgbClr val="1D4E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+mn-ea"/>
                </a:rPr>
                <a:t>01</a:t>
              </a:r>
              <a:endParaRPr sz="24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93" y="966"/>
              <a:ext cx="3440" cy="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1D4ED8"/>
                  </a:solidFill>
                  <a:latin typeface="+mn-ea"/>
                </a:rPr>
                <a:t>前端展示层</a:t>
              </a:r>
              <a:endParaRPr sz="1400" b="1">
                <a:solidFill>
                  <a:srgbClr val="1D4ED8"/>
                </a:solidFill>
                <a:latin typeface="+mn-ea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93" y="1269"/>
              <a:ext cx="3440" cy="2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i="1">
                  <a:solidFill>
                    <a:srgbClr val="64748B"/>
                  </a:solidFill>
                  <a:latin typeface="+mn-ea"/>
                </a:rPr>
                <a:t>Presentation Layer</a:t>
              </a:r>
              <a:endParaRPr sz="900" i="1">
                <a:solidFill>
                  <a:srgbClr val="64748B"/>
                </a:solidFill>
                <a:latin typeface="+mn-ea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493" y="1522"/>
              <a:ext cx="3440" cy="926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875">
              <a:solidFill>
                <a:srgbClr val="93C5F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/>
              <a:r>
                <a:rPr sz="800" b="1">
                  <a:solidFill>
                    <a:srgbClr val="64748B"/>
                  </a:solidFill>
                  <a:latin typeface="+mn-ea"/>
                  <a:cs typeface="+mn-ea"/>
                </a:rPr>
                <a:t>技术亮点</a:t>
              </a:r>
              <a:endParaRPr sz="800" b="1">
                <a:solidFill>
                  <a:srgbClr val="64748B"/>
                </a:solidFill>
                <a:latin typeface="+mn-ea"/>
                <a:cs typeface="+mn-ea"/>
              </a:endParaRPr>
            </a:p>
            <a:p>
              <a:pPr algn="l"/>
              <a:r>
                <a:rPr sz="900">
                  <a:solidFill>
                    <a:srgbClr val="1E293B"/>
                  </a:solidFill>
                  <a:latin typeface="+mn-ea"/>
                  <a:cs typeface="+mn-ea"/>
                </a:rPr>
                <a:t>可视化流程编排  ·  实时进度滚动  ·  全链路日志检索  ·  任务监控看板</a:t>
              </a:r>
              <a:endParaRPr sz="900">
                <a:solidFill>
                  <a:srgbClr val="1E293B"/>
                </a:solidFill>
                <a:latin typeface="+mn-ea"/>
                <a:cs typeface="+mn-ea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200" y="1090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1D4E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1D4ED8"/>
                  </a:solidFill>
                  <a:latin typeface="+mn-ea"/>
                  <a:cs typeface="+mn-ea"/>
                </a:rPr>
                <a:t>任务中心</a:t>
              </a:r>
              <a:endParaRPr sz="1000" b="1">
                <a:solidFill>
                  <a:srgbClr val="1D4ED8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任务创建 · 编辑 · 启停 · 重试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957" y="1090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1D4E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1D4ED8"/>
                  </a:solidFill>
                  <a:latin typeface="+mn-ea"/>
                  <a:cs typeface="+mn-ea"/>
                </a:rPr>
                <a:t>需求录入工作台</a:t>
              </a:r>
              <a:endParaRPr sz="1000" b="1">
                <a:solidFill>
                  <a:srgbClr val="1D4ED8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文档上传 · 接口规范录入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714" y="1090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1D4E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1D4ED8"/>
                  </a:solidFill>
                  <a:latin typeface="+mn-ea"/>
                  <a:cs typeface="+mn-ea"/>
                </a:rPr>
                <a:t>流程进度大盘</a:t>
              </a:r>
              <a:endParaRPr sz="1000" b="1">
                <a:solidFill>
                  <a:srgbClr val="1D4ED8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可视化 · 实时滚动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3472" y="1090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1D4E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1D4ED8"/>
                  </a:solidFill>
                  <a:latin typeface="+mn-ea"/>
                  <a:cs typeface="+mn-ea"/>
                </a:rPr>
                <a:t>日志检索面板</a:t>
              </a:r>
              <a:endParaRPr sz="1000" b="1">
                <a:solidFill>
                  <a:srgbClr val="1D4ED8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全链路日志 · 在线查看 · 下载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6229" y="1090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1D4E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1D4ED8"/>
                  </a:solidFill>
                  <a:latin typeface="+mn-ea"/>
                  <a:cs typeface="+mn-ea"/>
                </a:rPr>
                <a:t>监控告警中心</a:t>
              </a:r>
              <a:endParaRPr sz="1000" b="1">
                <a:solidFill>
                  <a:srgbClr val="1D4ED8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指标看板 · 弹窗告警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00" y="2205"/>
              <a:ext cx="800" cy="2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1">
                  <a:solidFill>
                    <a:srgbClr val="64748B"/>
                  </a:solidFill>
                  <a:latin typeface="+mn-ea"/>
                </a:rPr>
                <a:t>技术栈</a:t>
              </a:r>
              <a:endParaRPr sz="900" b="1">
                <a:solidFill>
                  <a:srgbClr val="64748B"/>
                </a:solidFill>
                <a:latin typeface="+mn-ea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947" y="2242"/>
              <a:ext cx="773" cy="226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Vue 3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826" y="2242"/>
              <a:ext cx="1200" cy="226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TypeScript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133" y="2242"/>
              <a:ext cx="1373" cy="226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Element Plus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613" y="2242"/>
              <a:ext cx="940" cy="226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ECharts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660" y="2242"/>
              <a:ext cx="1113" cy="226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WebSocket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1880" y="2242"/>
              <a:ext cx="773" cy="226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Pinia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00" y="2757"/>
              <a:ext cx="18400" cy="1728"/>
            </a:xfrm>
            <a:prstGeom prst="roundRect">
              <a:avLst>
                <a:gd name="adj" fmla="val 4000"/>
              </a:avLst>
            </a:prstGeom>
            <a:solidFill>
              <a:srgbClr val="EEF2FF"/>
            </a:solidFill>
            <a:ln w="15875">
              <a:solidFill>
                <a:srgbClr val="A5B4F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+mn-ea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33" y="2901"/>
              <a:ext cx="827" cy="1440"/>
            </a:xfrm>
            <a:prstGeom prst="roundRect">
              <a:avLst>
                <a:gd name="adj" fmla="val 10000"/>
              </a:avLst>
            </a:prstGeom>
            <a:solidFill>
              <a:srgbClr val="4338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+mn-ea"/>
                </a:rPr>
                <a:t>02</a:t>
              </a:r>
              <a:endParaRPr sz="24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493" y="2838"/>
              <a:ext cx="3440" cy="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338CA"/>
                  </a:solidFill>
                  <a:latin typeface="+mn-ea"/>
                  <a:cs typeface="+mn-ea"/>
                </a:rPr>
                <a:t>API 网关 / 安全层</a:t>
              </a:r>
              <a:endParaRPr sz="1400" b="1">
                <a:solidFill>
                  <a:srgbClr val="4338CA"/>
                </a:solidFill>
                <a:latin typeface="+mn-ea"/>
                <a:cs typeface="+mn-ea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93" y="3141"/>
              <a:ext cx="3440" cy="2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i="1">
                  <a:solidFill>
                    <a:srgbClr val="64748B"/>
                  </a:solidFill>
                  <a:latin typeface="+mn-ea"/>
                </a:rPr>
                <a:t>API Gateway &amp; Security</a:t>
              </a:r>
              <a:endParaRPr sz="900" i="1">
                <a:solidFill>
                  <a:srgbClr val="64748B"/>
                </a:solidFill>
                <a:latin typeface="+mn-ea"/>
              </a:endParaRP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493" y="3394"/>
              <a:ext cx="3440" cy="926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875">
              <a:solidFill>
                <a:srgbClr val="A5B4F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/>
              <a:r>
                <a:rPr sz="800" b="1">
                  <a:solidFill>
                    <a:srgbClr val="64748B"/>
                  </a:solidFill>
                  <a:latin typeface="+mn-ea"/>
                  <a:cs typeface="+mn-ea"/>
                </a:rPr>
                <a:t>技术亮点</a:t>
              </a:r>
              <a:endParaRPr sz="800" b="1">
                <a:solidFill>
                  <a:srgbClr val="64748B"/>
                </a:solidFill>
                <a:latin typeface="+mn-ea"/>
                <a:cs typeface="+mn-ea"/>
              </a:endParaRPr>
            </a:p>
            <a:p>
              <a:pPr algn="l"/>
              <a:r>
                <a:rPr sz="900">
                  <a:solidFill>
                    <a:srgbClr val="1E293B"/>
                  </a:solidFill>
                  <a:latin typeface="+mn-ea"/>
                  <a:cs typeface="+mn-ea"/>
                </a:rPr>
                <a:t>RESTful 路由  ·  MD5 签名鉴权  ·  JWT/OAuth2  ·  限流熔断  ·  敏感参数加密</a:t>
              </a:r>
              <a:endParaRPr sz="900">
                <a:solidFill>
                  <a:srgbClr val="1E293B"/>
                </a:solidFill>
                <a:latin typeface="+mn-ea"/>
                <a:cs typeface="+mn-ea"/>
              </a:endParaRP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200" y="2962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4338C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4338CA"/>
                  </a:solidFill>
                  <a:latin typeface="+mn-ea"/>
                  <a:cs typeface="+mn-ea"/>
                </a:rPr>
                <a:t>REST API 网关</a:t>
              </a:r>
              <a:endParaRPr sz="1000" b="1">
                <a:solidFill>
                  <a:srgbClr val="4338CA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统一入口 · 路由聚合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957" y="2962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4338C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4338CA"/>
                  </a:solidFill>
                  <a:latin typeface="+mn-ea"/>
                  <a:cs typeface="+mn-ea"/>
                </a:rPr>
                <a:t>统一鉴权中心</a:t>
              </a:r>
              <a:endParaRPr sz="1000" b="1">
                <a:solidFill>
                  <a:srgbClr val="4338CA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MD5 签名 · 时间窗口校验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714" y="2962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4338C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4338CA"/>
                  </a:solidFill>
                  <a:latin typeface="+mn-ea"/>
                  <a:cs typeface="+mn-ea"/>
                </a:rPr>
                <a:t>流量熔断降级</a:t>
              </a:r>
              <a:endParaRPr sz="1000" b="1">
                <a:solidFill>
                  <a:srgbClr val="4338CA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限流 · 降级 · 黑白名单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3472" y="2962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4338C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4338CA"/>
                  </a:solidFill>
                  <a:latin typeface="+mn-ea"/>
                  <a:cs typeface="+mn-ea"/>
                </a:rPr>
                <a:t>会话 &amp; 令牌</a:t>
              </a:r>
              <a:endParaRPr sz="1000" b="1">
                <a:solidFill>
                  <a:srgbClr val="4338CA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Session · AccessToken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6229" y="2962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4338C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4338CA"/>
                  </a:solidFill>
                  <a:latin typeface="+mn-ea"/>
                  <a:cs typeface="+mn-ea"/>
                </a:rPr>
                <a:t>安全传输</a:t>
              </a:r>
              <a:endParaRPr sz="1000" b="1">
                <a:solidFill>
                  <a:srgbClr val="4338CA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HTTPS · AES 加密 · 审计留痕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200" y="4077"/>
              <a:ext cx="800" cy="2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1">
                  <a:solidFill>
                    <a:srgbClr val="64748B"/>
                  </a:solidFill>
                  <a:latin typeface="+mn-ea"/>
                </a:rPr>
                <a:t>技术栈</a:t>
              </a:r>
              <a:endParaRPr sz="900" b="1">
                <a:solidFill>
                  <a:srgbClr val="64748B"/>
                </a:solidFill>
                <a:latin typeface="+mn-ea"/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947" y="4114"/>
              <a:ext cx="2087" cy="226"/>
            </a:xfrm>
            <a:prstGeom prst="roundRect">
              <a:avLst>
                <a:gd name="adj" fmla="val 50000"/>
              </a:avLst>
            </a:prstGeom>
            <a:solidFill>
              <a:srgbClr val="4338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Spring Cloud Gateway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8140" y="4114"/>
              <a:ext cx="1633" cy="226"/>
            </a:xfrm>
            <a:prstGeom prst="roundRect">
              <a:avLst>
                <a:gd name="adj" fmla="val 50000"/>
              </a:avLst>
            </a:prstGeom>
            <a:solidFill>
              <a:srgbClr val="4338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Spring Security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880" y="4114"/>
              <a:ext cx="1433" cy="226"/>
            </a:xfrm>
            <a:prstGeom prst="roundRect">
              <a:avLst>
                <a:gd name="adj" fmla="val 50000"/>
              </a:avLst>
            </a:prstGeom>
            <a:solidFill>
              <a:srgbClr val="4338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JWT / OAuth2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1420" y="4114"/>
              <a:ext cx="1007" cy="226"/>
            </a:xfrm>
            <a:prstGeom prst="roundRect">
              <a:avLst>
                <a:gd name="adj" fmla="val 50000"/>
              </a:avLst>
            </a:prstGeom>
            <a:solidFill>
              <a:srgbClr val="4338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Sentinel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2533" y="4114"/>
              <a:ext cx="773" cy="226"/>
            </a:xfrm>
            <a:prstGeom prst="roundRect">
              <a:avLst>
                <a:gd name="adj" fmla="val 50000"/>
              </a:avLst>
            </a:prstGeom>
            <a:solidFill>
              <a:srgbClr val="4338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Nginx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400" y="4629"/>
              <a:ext cx="18400" cy="1728"/>
            </a:xfrm>
            <a:prstGeom prst="roundRect">
              <a:avLst>
                <a:gd name="adj" fmla="val 4000"/>
              </a:avLst>
            </a:prstGeom>
            <a:solidFill>
              <a:srgbClr val="FFF7ED"/>
            </a:solidFill>
            <a:ln w="15875">
              <a:solidFill>
                <a:srgbClr val="FDBA7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+mn-ea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33" y="4773"/>
              <a:ext cx="827" cy="1440"/>
            </a:xfrm>
            <a:prstGeom prst="roundRect">
              <a:avLst>
                <a:gd name="adj" fmla="val 10000"/>
              </a:avLst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+mn-ea"/>
                </a:rPr>
                <a:t>03</a:t>
              </a:r>
              <a:endParaRPr sz="24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493" y="4710"/>
              <a:ext cx="3440" cy="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C2410C"/>
                  </a:solidFill>
                  <a:latin typeface="+mn-ea"/>
                </a:rPr>
                <a:t>决策中枢层（核心智能体）</a:t>
              </a:r>
              <a:endParaRPr sz="1400" b="1">
                <a:solidFill>
                  <a:srgbClr val="C2410C"/>
                </a:solidFill>
                <a:latin typeface="+mn-ea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493" y="5013"/>
              <a:ext cx="3440" cy="2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i="1">
                  <a:solidFill>
                    <a:srgbClr val="64748B"/>
                  </a:solidFill>
                  <a:latin typeface="+mn-ea"/>
                  <a:cs typeface="+mn-ea"/>
                </a:rPr>
                <a:t>Decision Hub — Core Orchestration Agent</a:t>
              </a:r>
              <a:endParaRPr sz="900" i="1">
                <a:solidFill>
                  <a:srgbClr val="64748B"/>
                </a:solidFill>
                <a:latin typeface="+mn-ea"/>
                <a:cs typeface="+mn-ea"/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1493" y="5266"/>
              <a:ext cx="3440" cy="926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875">
              <a:solidFill>
                <a:srgbClr val="FDBA7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/>
              <a:r>
                <a:rPr sz="800" b="1">
                  <a:solidFill>
                    <a:srgbClr val="64748B"/>
                  </a:solidFill>
                  <a:latin typeface="+mn-ea"/>
                  <a:cs typeface="+mn-ea"/>
                </a:rPr>
                <a:t>技术亮点</a:t>
              </a:r>
              <a:endParaRPr sz="800" b="1">
                <a:solidFill>
                  <a:srgbClr val="64748B"/>
                </a:solidFill>
                <a:latin typeface="+mn-ea"/>
                <a:cs typeface="+mn-ea"/>
              </a:endParaRPr>
            </a:p>
            <a:p>
              <a:pPr algn="l"/>
              <a:r>
                <a:rPr sz="900">
                  <a:solidFill>
                    <a:srgbClr val="1E293B"/>
                  </a:solidFill>
                  <a:latin typeface="+mn-ea"/>
                  <a:cs typeface="+mn-ea"/>
                </a:rPr>
                <a:t>状态机驱动  ·  智能流程编排  ·  任务全生命周期  ·  智能决策与异常分级处理</a:t>
              </a:r>
              <a:endParaRPr sz="900">
                <a:solidFill>
                  <a:srgbClr val="1E293B"/>
                </a:solidFill>
                <a:latin typeface="+mn-ea"/>
                <a:cs typeface="+mn-ea"/>
              </a:endParaRP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00" y="4834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C2410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C2410C"/>
                  </a:solidFill>
                  <a:latin typeface="+mn-ea"/>
                  <a:cs typeface="+mn-ea"/>
                </a:rPr>
                <a:t>任务生命周期管理</a:t>
              </a:r>
              <a:endParaRPr sz="1000" b="1">
                <a:solidFill>
                  <a:srgbClr val="C2410C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新建·编辑·启停·版本·RBAC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7957" y="4834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C2410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C2410C"/>
                  </a:solidFill>
                  <a:latin typeface="+mn-ea"/>
                  <a:cs typeface="+mn-ea"/>
                </a:rPr>
                <a:t>智能流程编排引擎</a:t>
              </a:r>
              <a:endParaRPr sz="1000" b="1">
                <a:solidFill>
                  <a:srgbClr val="C2410C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状态机 · 依赖跳转 · 多场景模板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0714" y="4834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C2410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C2410C"/>
                  </a:solidFill>
                  <a:latin typeface="+mn-ea"/>
                  <a:cs typeface="+mn-ea"/>
                </a:rPr>
                <a:t>参数解析与转换</a:t>
              </a:r>
              <a:endParaRPr sz="1000" b="1">
                <a:solidFill>
                  <a:srgbClr val="C2410C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结构化提取 · 校验 · 人机补全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13472" y="4834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C2410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C2410C"/>
                  </a:solidFill>
                  <a:latin typeface="+mn-ea"/>
                  <a:cs typeface="+mn-ea"/>
                </a:rPr>
                <a:t>执行调度 &amp; 状态管控</a:t>
              </a:r>
              <a:endParaRPr sz="1000" b="1">
                <a:solidFill>
                  <a:srgbClr val="C2410C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幂等 · 断点续跑 · 进度追踪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6229" y="4834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C2410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C2410C"/>
                  </a:solidFill>
                  <a:latin typeface="+mn-ea"/>
                  <a:cs typeface="+mn-ea"/>
                </a:rPr>
                <a:t>异常处理决策</a:t>
              </a:r>
              <a:endParaRPr sz="1000" b="1">
                <a:solidFill>
                  <a:srgbClr val="C2410C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分级识别 · 重试 · 熔断 · 根因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200" y="5949"/>
              <a:ext cx="800" cy="2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1">
                  <a:solidFill>
                    <a:srgbClr val="64748B"/>
                  </a:solidFill>
                  <a:latin typeface="+mn-ea"/>
                </a:rPr>
                <a:t>技术栈</a:t>
              </a:r>
              <a:endParaRPr sz="900" b="1">
                <a:solidFill>
                  <a:srgbClr val="64748B"/>
                </a:solidFill>
                <a:latin typeface="+mn-ea"/>
              </a:endParaRP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5947" y="5986"/>
              <a:ext cx="1460" cy="226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Spring Boot 3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7513" y="5986"/>
              <a:ext cx="1007" cy="226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Flowable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8626" y="5986"/>
              <a:ext cx="1133" cy="226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Spring AI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866" y="5986"/>
              <a:ext cx="2000" cy="226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Spring StateMachine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1973" y="5986"/>
              <a:ext cx="833" cy="226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Hutool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12913" y="5986"/>
              <a:ext cx="1113" cy="226"/>
            </a:xfrm>
            <a:prstGeom prst="roundRect">
              <a:avLst>
                <a:gd name="adj" fmla="val 50000"/>
              </a:avLst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MapStruct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400" y="6501"/>
              <a:ext cx="18400" cy="1728"/>
            </a:xfrm>
            <a:prstGeom prst="roundRect">
              <a:avLst>
                <a:gd name="adj" fmla="val 4000"/>
              </a:avLst>
            </a:prstGeom>
            <a:solidFill>
              <a:srgbClr val="ECFDF5"/>
            </a:solidFill>
            <a:ln w="15875">
              <a:solidFill>
                <a:srgbClr val="6EE7B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+mn-ea"/>
              </a:endParaRP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533" y="6645"/>
              <a:ext cx="827" cy="1440"/>
            </a:xfrm>
            <a:prstGeom prst="roundRect">
              <a:avLst>
                <a:gd name="adj" fmla="val 10000"/>
              </a:avLst>
            </a:prstGeom>
            <a:solidFill>
              <a:srgbClr val="0478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+mn-ea"/>
                </a:rPr>
                <a:t>04</a:t>
              </a:r>
              <a:endParaRPr sz="24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493" y="6609"/>
              <a:ext cx="3440" cy="31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047857"/>
                  </a:solidFill>
                  <a:latin typeface="+mn-ea"/>
                  <a:cs typeface="+mn-ea"/>
                </a:rPr>
                <a:t>MCP 协议适配与能力接入层</a:t>
              </a:r>
              <a:endParaRPr sz="1200" b="1">
                <a:solidFill>
                  <a:srgbClr val="047857"/>
                </a:solidFill>
                <a:latin typeface="+mn-ea"/>
                <a:cs typeface="+mn-ea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493" y="6885"/>
              <a:ext cx="3440" cy="2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i="1">
                  <a:solidFill>
                    <a:srgbClr val="64748B"/>
                  </a:solidFill>
                  <a:latin typeface="+mn-ea"/>
                </a:rPr>
                <a:t>MCP Protocol Adaptation &amp; Capability Bus</a:t>
              </a:r>
              <a:endParaRPr sz="900" i="1">
                <a:solidFill>
                  <a:srgbClr val="64748B"/>
                </a:solidFill>
                <a:latin typeface="+mn-ea"/>
              </a:endParaRP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1493" y="7138"/>
              <a:ext cx="3440" cy="926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875">
              <a:solidFill>
                <a:srgbClr val="6EE7B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/>
              <a:r>
                <a:rPr sz="800" b="1">
                  <a:solidFill>
                    <a:srgbClr val="64748B"/>
                  </a:solidFill>
                  <a:latin typeface="+mn-ea"/>
                  <a:cs typeface="+mn-ea"/>
                </a:rPr>
                <a:t>技术亮点</a:t>
              </a:r>
              <a:endParaRPr sz="800" b="1">
                <a:solidFill>
                  <a:srgbClr val="64748B"/>
                </a:solidFill>
                <a:latin typeface="+mn-ea"/>
                <a:cs typeface="+mn-ea"/>
              </a:endParaRPr>
            </a:p>
            <a:p>
              <a:pPr algn="l"/>
              <a:r>
                <a:rPr sz="900">
                  <a:solidFill>
                    <a:srgbClr val="1E293B"/>
                  </a:solidFill>
                  <a:latin typeface="+mn-ea"/>
                  <a:cs typeface="+mn-ea"/>
                </a:rPr>
                <a:t>MCP 双向协议转换  ·  服务注册发现  ·  原子工具 + 组合流程  ·  健康检查动态上下线</a:t>
              </a:r>
              <a:endParaRPr sz="900">
                <a:solidFill>
                  <a:srgbClr val="1E293B"/>
                </a:solidFill>
                <a:latin typeface="+mn-ea"/>
                <a:cs typeface="+mn-ea"/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5200" y="6706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0478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047857"/>
                  </a:solidFill>
                  <a:latin typeface="+mn-ea"/>
                  <a:cs typeface="+mn-ea"/>
                </a:rPr>
                <a:t>MCP Server / Client</a:t>
              </a:r>
              <a:endParaRPr sz="1000" b="1">
                <a:solidFill>
                  <a:srgbClr val="047857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标准 MCP 运行时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7957" y="6706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0478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047857"/>
                  </a:solidFill>
                  <a:latin typeface="+mn-ea"/>
                  <a:cs typeface="+mn-ea"/>
                </a:rPr>
                <a:t>协议双向转换器</a:t>
              </a:r>
              <a:endParaRPr sz="1000" b="1">
                <a:solidFill>
                  <a:srgbClr val="047857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HTTP ⇄ MCP · 流式适配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10714" y="6706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0478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047857"/>
                  </a:solidFill>
                  <a:latin typeface="+mn-ea"/>
                  <a:cs typeface="+mn-ea"/>
                </a:rPr>
                <a:t>上游 AI 解析适配</a:t>
              </a:r>
              <a:endParaRPr sz="1000" b="1">
                <a:solidFill>
                  <a:srgbClr val="047857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能开平台 · Qwen2.5-32B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13472" y="6706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0478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047857"/>
                  </a:solidFill>
                  <a:latin typeface="+mn-ea"/>
                  <a:cs typeface="+mn-ea"/>
                </a:rPr>
                <a:t>下游 BDI 执行适配</a:t>
              </a:r>
              <a:endParaRPr sz="1000" b="1">
                <a:solidFill>
                  <a:srgbClr val="047857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资源注册→建模→映射→流程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16229" y="6706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0478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047857"/>
                  </a:solidFill>
                  <a:latin typeface="+mn-ea"/>
                  <a:cs typeface="+mn-ea"/>
                </a:rPr>
                <a:t>能力注册发现</a:t>
              </a:r>
              <a:endParaRPr sz="1000" b="1">
                <a:solidFill>
                  <a:srgbClr val="047857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工具元数据 · 健康检查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200" y="7821"/>
              <a:ext cx="800" cy="2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1">
                  <a:solidFill>
                    <a:srgbClr val="64748B"/>
                  </a:solidFill>
                  <a:latin typeface="+mn-ea"/>
                </a:rPr>
                <a:t>技术栈</a:t>
              </a:r>
              <a:endParaRPr sz="900" b="1">
                <a:solidFill>
                  <a:srgbClr val="64748B"/>
                </a:solidFill>
                <a:latin typeface="+mn-ea"/>
              </a:endParaRP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5947" y="7858"/>
              <a:ext cx="1540" cy="226"/>
            </a:xfrm>
            <a:prstGeom prst="roundRect">
              <a:avLst>
                <a:gd name="adj" fmla="val 50000"/>
              </a:avLst>
            </a:prstGeom>
            <a:solidFill>
              <a:srgbClr val="0478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Spring AI MCP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7593" y="7858"/>
              <a:ext cx="773" cy="226"/>
            </a:xfrm>
            <a:prstGeom prst="roundRect">
              <a:avLst>
                <a:gd name="adj" fmla="val 50000"/>
              </a:avLst>
            </a:prstGeom>
            <a:solidFill>
              <a:srgbClr val="0478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Nacos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8473" y="7858"/>
              <a:ext cx="1113" cy="226"/>
            </a:xfrm>
            <a:prstGeom prst="roundRect">
              <a:avLst>
                <a:gd name="adj" fmla="val 50000"/>
              </a:avLst>
            </a:prstGeom>
            <a:solidFill>
              <a:srgbClr val="0478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OpenFeign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9693" y="7858"/>
              <a:ext cx="1287" cy="226"/>
            </a:xfrm>
            <a:prstGeom prst="roundRect">
              <a:avLst>
                <a:gd name="adj" fmla="val 50000"/>
              </a:avLst>
            </a:prstGeom>
            <a:solidFill>
              <a:srgbClr val="0478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Qwen2.5-32B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1086" y="7858"/>
              <a:ext cx="1153" cy="226"/>
            </a:xfrm>
            <a:prstGeom prst="roundRect">
              <a:avLst>
                <a:gd name="adj" fmla="val 50000"/>
              </a:avLst>
            </a:prstGeom>
            <a:solidFill>
              <a:srgbClr val="0478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BDI Agent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2346" y="7858"/>
              <a:ext cx="1347" cy="226"/>
            </a:xfrm>
            <a:prstGeom prst="roundRect">
              <a:avLst>
                <a:gd name="adj" fmla="val 50000"/>
              </a:avLst>
            </a:prstGeom>
            <a:solidFill>
              <a:srgbClr val="0478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WebFlux SSE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400" y="8373"/>
              <a:ext cx="18400" cy="1728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15875">
              <a:solidFill>
                <a:srgbClr val="94A3B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+mn-ea"/>
              </a:endParaRP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533" y="8517"/>
              <a:ext cx="827" cy="1440"/>
            </a:xfrm>
            <a:prstGeom prst="roundRect">
              <a:avLst>
                <a:gd name="adj" fmla="val 10000"/>
              </a:avLst>
            </a:prstGeom>
            <a:solidFill>
              <a:srgbClr val="3341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+mn-ea"/>
                </a:rPr>
                <a:t>05</a:t>
              </a:r>
              <a:endParaRPr sz="24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493" y="8454"/>
              <a:ext cx="3440" cy="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334155"/>
                  </a:solidFill>
                  <a:latin typeface="+mn-ea"/>
                </a:rPr>
                <a:t>基础设施与运维保障层</a:t>
              </a:r>
              <a:endParaRPr sz="1400" b="1">
                <a:solidFill>
                  <a:srgbClr val="334155"/>
                </a:solidFill>
                <a:latin typeface="+mn-ea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493" y="8757"/>
              <a:ext cx="3440" cy="2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i="1">
                  <a:solidFill>
                    <a:srgbClr val="64748B"/>
                  </a:solidFill>
                  <a:latin typeface="+mn-ea"/>
                </a:rPr>
                <a:t>Infrastructure &amp; Observability</a:t>
              </a:r>
              <a:endParaRPr sz="900" i="1">
                <a:solidFill>
                  <a:srgbClr val="64748B"/>
                </a:solidFill>
                <a:latin typeface="+mn-ea"/>
              </a:endParaRP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1493" y="9010"/>
              <a:ext cx="3440" cy="926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875">
              <a:solidFill>
                <a:srgbClr val="94A3B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algn="l"/>
              <a:r>
                <a:rPr sz="800" b="1">
                  <a:solidFill>
                    <a:srgbClr val="64748B"/>
                  </a:solidFill>
                  <a:latin typeface="+mn-ea"/>
                  <a:cs typeface="+mn-ea"/>
                </a:rPr>
                <a:t>技术亮点</a:t>
              </a:r>
              <a:endParaRPr sz="800" b="1">
                <a:solidFill>
                  <a:srgbClr val="64748B"/>
                </a:solidFill>
                <a:latin typeface="+mn-ea"/>
                <a:cs typeface="+mn-ea"/>
              </a:endParaRPr>
            </a:p>
            <a:p>
              <a:pPr algn="l"/>
              <a:r>
                <a:rPr sz="900">
                  <a:solidFill>
                    <a:srgbClr val="1E293B"/>
                  </a:solidFill>
                  <a:latin typeface="+mn-ea"/>
                  <a:cs typeface="+mn-ea"/>
                </a:rPr>
                <a:t>分布式锁  ·  异步事件驱动  ·  全链路追踪  ·  敏感加密存储  ·  幂等 &amp; 高可用保障</a:t>
              </a:r>
              <a:endParaRPr sz="900">
                <a:solidFill>
                  <a:srgbClr val="1E293B"/>
                </a:solidFill>
                <a:latin typeface="+mn-ea"/>
                <a:cs typeface="+mn-ea"/>
              </a:endParaRP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5200" y="8578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3341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334155"/>
                  </a:solidFill>
                  <a:latin typeface="+mn-ea"/>
                  <a:cs typeface="+mn-ea"/>
                </a:rPr>
                <a:t>关系存储</a:t>
              </a:r>
              <a:endParaRPr sz="1000" b="1">
                <a:solidFill>
                  <a:srgbClr val="334155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任务元数据 · 执行记录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7957" y="8578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3341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334155"/>
                  </a:solidFill>
                  <a:latin typeface="+mn-ea"/>
                  <a:cs typeface="+mn-ea"/>
                </a:rPr>
                <a:t>缓存 &amp; 分布式锁</a:t>
              </a:r>
              <a:endParaRPr sz="1000" b="1">
                <a:solidFill>
                  <a:srgbClr val="334155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Redis 锁 · 幂等 Key · 限流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10714" y="8578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3341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334155"/>
                  </a:solidFill>
                  <a:latin typeface="+mn-ea"/>
                  <a:cs typeface="+mn-ea"/>
                </a:rPr>
                <a:t>消息 &amp; 事件总线</a:t>
              </a:r>
              <a:endParaRPr sz="1000" b="1">
                <a:solidFill>
                  <a:srgbClr val="334155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长时任务异步回调 · 事件推送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13472" y="8578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3341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334155"/>
                  </a:solidFill>
                  <a:latin typeface="+mn-ea"/>
                  <a:cs typeface="+mn-ea"/>
                </a:rPr>
                <a:t>日志与检索</a:t>
              </a:r>
              <a:endParaRPr sz="1000" b="1">
                <a:solidFill>
                  <a:srgbClr val="334155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全链路日志采集 · 聚合检索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16229" y="8578"/>
              <a:ext cx="2571" cy="63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7780">
              <a:solidFill>
                <a:srgbClr val="3341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334155"/>
                  </a:solidFill>
                  <a:latin typeface="+mn-ea"/>
                  <a:cs typeface="+mn-ea"/>
                </a:rPr>
                <a:t>监控 &amp; APM</a:t>
              </a:r>
              <a:endParaRPr sz="1000" b="1">
                <a:solidFill>
                  <a:srgbClr val="334155"/>
                </a:solidFill>
                <a:latin typeface="+mn-ea"/>
                <a:cs typeface="+mn-ea"/>
              </a:endParaRPr>
            </a:p>
            <a:p>
              <a:pPr algn="ctr"/>
              <a:r>
                <a:rPr sz="850">
                  <a:solidFill>
                    <a:srgbClr val="475569"/>
                  </a:solidFill>
                  <a:latin typeface="+mn-ea"/>
                  <a:cs typeface="+mn-ea"/>
                </a:rPr>
                <a:t>链路追踪 · 指标 · 告警</a:t>
              </a:r>
              <a:endParaRPr sz="85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200" y="9693"/>
              <a:ext cx="800" cy="2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1">
                  <a:solidFill>
                    <a:srgbClr val="64748B"/>
                  </a:solidFill>
                  <a:latin typeface="+mn-ea"/>
                </a:rPr>
                <a:t>技术栈</a:t>
              </a:r>
              <a:endParaRPr sz="900" b="1">
                <a:solidFill>
                  <a:srgbClr val="64748B"/>
                </a:solidFill>
                <a:latin typeface="+mn-ea"/>
              </a:endParaRPr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5947" y="9730"/>
              <a:ext cx="980" cy="226"/>
            </a:xfrm>
            <a:prstGeom prst="roundRect">
              <a:avLst>
                <a:gd name="adj" fmla="val 50000"/>
              </a:avLst>
            </a:prstGeom>
            <a:solidFill>
              <a:srgbClr val="3341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MySQL 8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7033" y="9730"/>
              <a:ext cx="920" cy="226"/>
            </a:xfrm>
            <a:prstGeom prst="roundRect">
              <a:avLst>
                <a:gd name="adj" fmla="val 50000"/>
              </a:avLst>
            </a:prstGeom>
            <a:solidFill>
              <a:srgbClr val="3341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Redis 7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8060" y="9730"/>
              <a:ext cx="920" cy="226"/>
            </a:xfrm>
            <a:prstGeom prst="roundRect">
              <a:avLst>
                <a:gd name="adj" fmla="val 50000"/>
              </a:avLst>
            </a:prstGeom>
            <a:solidFill>
              <a:srgbClr val="3341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Kafka 3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6" name="Rounded Rectangle 85"/>
            <p:cNvSpPr/>
            <p:nvPr/>
          </p:nvSpPr>
          <p:spPr>
            <a:xfrm>
              <a:off x="9086" y="9730"/>
              <a:ext cx="1373" cy="226"/>
            </a:xfrm>
            <a:prstGeom prst="roundRect">
              <a:avLst>
                <a:gd name="adj" fmla="val 50000"/>
              </a:avLst>
            </a:prstGeom>
            <a:solidFill>
              <a:srgbClr val="3341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Spring Event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10566" y="9730"/>
              <a:ext cx="1613" cy="226"/>
            </a:xfrm>
            <a:prstGeom prst="roundRect">
              <a:avLst>
                <a:gd name="adj" fmla="val 50000"/>
              </a:avLst>
            </a:prstGeom>
            <a:solidFill>
              <a:srgbClr val="3341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Elasticsearch 8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12286" y="9730"/>
              <a:ext cx="1200" cy="226"/>
            </a:xfrm>
            <a:prstGeom prst="roundRect">
              <a:avLst>
                <a:gd name="adj" fmla="val 50000"/>
              </a:avLst>
            </a:prstGeom>
            <a:solidFill>
              <a:srgbClr val="3341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SkyWalking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13593" y="9730"/>
              <a:ext cx="1180" cy="226"/>
            </a:xfrm>
            <a:prstGeom prst="roundRect">
              <a:avLst>
                <a:gd name="adj" fmla="val 50000"/>
              </a:avLst>
            </a:prstGeom>
            <a:solidFill>
              <a:srgbClr val="3341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+mn-ea"/>
                </a:rPr>
                <a:t>Prometheus</a:t>
              </a:r>
              <a:endParaRPr sz="900" b="1">
                <a:solidFill>
                  <a:srgbClr val="FFFFFF"/>
                </a:solidFill>
                <a:latin typeface="+mn-ea"/>
              </a:endParaRPr>
            </a:p>
          </p:txBody>
        </p:sp>
        <p:cxnSp>
          <p:nvCxnSpPr>
            <p:cNvPr id="90" name="Connector 89"/>
            <p:cNvCxnSpPr/>
            <p:nvPr/>
          </p:nvCxnSpPr>
          <p:spPr>
            <a:xfrm>
              <a:off x="9600" y="2613"/>
              <a:ext cx="0" cy="144"/>
            </a:xfrm>
            <a:prstGeom prst="line">
              <a:avLst/>
            </a:prstGeom>
            <a:ln w="25400">
              <a:solidFill>
                <a:srgbClr val="47556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9600" y="4485"/>
              <a:ext cx="0" cy="144"/>
            </a:xfrm>
            <a:prstGeom prst="line">
              <a:avLst/>
            </a:prstGeom>
            <a:ln w="25400">
              <a:solidFill>
                <a:srgbClr val="47556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ectangle 92"/>
            <p:cNvSpPr/>
            <p:nvPr/>
          </p:nvSpPr>
          <p:spPr>
            <a:xfrm>
              <a:off x="8466" y="4464"/>
              <a:ext cx="2267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>
                  <a:solidFill>
                    <a:srgbClr val="334155"/>
                  </a:solidFill>
                  <a:latin typeface="+mn-ea"/>
                  <a:cs typeface="+mn-ea"/>
                </a:rPr>
                <a:t>统一接入 · 鉴权透传</a:t>
              </a:r>
              <a:endParaRPr sz="900">
                <a:solidFill>
                  <a:srgbClr val="334155"/>
                </a:solidFill>
                <a:latin typeface="+mn-ea"/>
                <a:cs typeface="+mn-ea"/>
              </a:endParaRPr>
            </a:p>
          </p:txBody>
        </p:sp>
        <p:cxnSp>
          <p:nvCxnSpPr>
            <p:cNvPr id="94" name="Connector 93"/>
            <p:cNvCxnSpPr/>
            <p:nvPr/>
          </p:nvCxnSpPr>
          <p:spPr>
            <a:xfrm>
              <a:off x="9600" y="6357"/>
              <a:ext cx="0" cy="144"/>
            </a:xfrm>
            <a:prstGeom prst="line">
              <a:avLst/>
            </a:prstGeom>
            <a:ln w="25400">
              <a:solidFill>
                <a:srgbClr val="47556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/>
            <p:cNvSpPr/>
            <p:nvPr/>
          </p:nvSpPr>
          <p:spPr>
            <a:xfrm>
              <a:off x="8466" y="6336"/>
              <a:ext cx="2267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>
                  <a:solidFill>
                    <a:srgbClr val="334155"/>
                  </a:solidFill>
                  <a:latin typeface="+mn-ea"/>
                  <a:cs typeface="+mn-ea"/>
                </a:rPr>
                <a:t>MCP 协议 · 双向调用</a:t>
              </a:r>
              <a:endParaRPr sz="900">
                <a:solidFill>
                  <a:srgbClr val="334155"/>
                </a:solidFill>
                <a:latin typeface="+mn-ea"/>
                <a:cs typeface="+mn-ea"/>
              </a:endParaRPr>
            </a:p>
          </p:txBody>
        </p:sp>
        <p:cxnSp>
          <p:nvCxnSpPr>
            <p:cNvPr id="96" name="Connector 95"/>
            <p:cNvCxnSpPr/>
            <p:nvPr/>
          </p:nvCxnSpPr>
          <p:spPr>
            <a:xfrm>
              <a:off x="9600" y="8229"/>
              <a:ext cx="0" cy="144"/>
            </a:xfrm>
            <a:prstGeom prst="line">
              <a:avLst/>
            </a:prstGeom>
            <a:ln w="25400">
              <a:solidFill>
                <a:srgbClr val="475569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Rectangle 96"/>
            <p:cNvSpPr/>
            <p:nvPr/>
          </p:nvSpPr>
          <p:spPr>
            <a:xfrm>
              <a:off x="8466" y="8208"/>
              <a:ext cx="2267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>
                  <a:solidFill>
                    <a:srgbClr val="334155"/>
                  </a:solidFill>
                  <a:latin typeface="+mn-ea"/>
                  <a:cs typeface="+mn-ea"/>
                </a:rPr>
                <a:t>持久化 · 事件 / 日志</a:t>
              </a:r>
              <a:endParaRPr sz="900">
                <a:solidFill>
                  <a:srgbClr val="334155"/>
                </a:solidFill>
                <a:latin typeface="+mn-ea"/>
                <a:cs typeface="+mn-ea"/>
              </a:endParaRPr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400" y="10347"/>
              <a:ext cx="18400" cy="309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587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1000" b="1">
                  <a:solidFill>
                    <a:srgbClr val="334155"/>
                  </a:solidFill>
                  <a:latin typeface="+mn-ea"/>
                  <a:cs typeface="+mn-ea"/>
                </a:rPr>
                <a:t>横向能力（贯穿全层）</a:t>
              </a:r>
              <a:r>
                <a:rPr sz="1000">
                  <a:solidFill>
                    <a:srgbClr val="475569"/>
                  </a:solidFill>
                  <a:latin typeface="+mn-ea"/>
                  <a:cs typeface="+mn-ea"/>
                </a:rPr>
                <a:t>  　幂等保障　·　分布式锁（Redis）　·　异步事件驱动（Spring Event）　·　全链路追踪（SkyWalking）　·　分级异常处理　·　配置化参数映射　·　插件化扩展</a:t>
              </a:r>
              <a:endParaRPr sz="1000">
                <a:solidFill>
                  <a:srgbClr val="475569"/>
                </a:solidFill>
                <a:latin typeface="+mn-ea"/>
                <a:cs typeface="+mn-ea"/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8466" y="2592"/>
              <a:ext cx="2267" cy="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900">
                  <a:solidFill>
                    <a:srgbClr val="334155"/>
                  </a:solidFill>
                  <a:latin typeface="+mn-ea"/>
                </a:rPr>
                <a:t>REST API · HTTPS</a:t>
              </a:r>
              <a:endParaRPr sz="900">
                <a:solidFill>
                  <a:srgbClr val="334155"/>
                </a:solidFill>
                <a:latin typeface="+mn-ea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1585</Words>
  <Application>WPS 演示</Application>
  <PresentationFormat>On-screen Show (4:3)</PresentationFormat>
  <Paragraphs>204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5" baseType="lpstr">
      <vt:lpstr>Arial</vt:lpstr>
      <vt:lpstr>宋体</vt:lpstr>
      <vt:lpstr>Wingdings</vt:lpstr>
      <vt:lpstr>Arial</vt:lpstr>
      <vt:lpstr>PingFang SC</vt:lpstr>
      <vt:lpstr>Helvetica</vt:lpstr>
      <vt:lpstr>Calibri</vt:lpstr>
      <vt:lpstr>Helvetica Neue</vt:lpstr>
      <vt:lpstr>宋体</vt:lpstr>
      <vt:lpstr>汉仪书宋二KW</vt:lpstr>
      <vt:lpstr>Arial Unicode MS</vt:lpstr>
      <vt:lpstr>微软雅黑</vt:lpstr>
      <vt:lpstr>汉仪旗黑</vt:lpstr>
      <vt:lpstr>Helvetica</vt:lpstr>
      <vt:lpstr>Noto Sans SC</vt:lpstr>
      <vt:lpstr>冬青黑体简体中文</vt:lpstr>
      <vt:lpstr>Noto Sans SC</vt:lpstr>
      <vt:lpstr>等线</vt:lpstr>
      <vt:lpstr>Inter</vt:lpstr>
      <vt:lpstr>Alibaba PuHuiTi 2.0 55 Regular</vt:lpstr>
      <vt:lpstr>汉仪中等线KW</vt:lpstr>
      <vt:lpstr>Thonburi</vt:lpstr>
      <vt:lpstr>苹方-简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Tiger 安增平</cp:lastModifiedBy>
  <cp:revision>3</cp:revision>
  <dcterms:created xsi:type="dcterms:W3CDTF">2026-04-22T02:47:37Z</dcterms:created>
  <dcterms:modified xsi:type="dcterms:W3CDTF">2026-04-22T02:47:37Z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2052-12.1.25201.25201</vt:lpwstr>
  </property>
  <property fmtid="{D5CDD505-2E9C-101B-9397-08002B2CF9AE}" pid="3" name="ICV">
    <vt:lpwstr>26E8BEB01E103AB13260E7694F576F42_42</vt:lpwstr>
  </property>
</Properties>
</file>